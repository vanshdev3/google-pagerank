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678" y="0"/>
            <a:ext cx="1226105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AB4F8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What this presentation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28B82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971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2971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Keyword-density search engines &amp; spam (pre-1998)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8AB4F8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06040"/>
            <a:ext cx="2971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The Google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017520"/>
            <a:ext cx="2971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A hyperlink is a vote of 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9164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57616" y="1920240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DD663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606040"/>
            <a:ext cx="2971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The Matrices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3017520"/>
            <a:ext cx="2971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Adjacency A → Stochastic S → Google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4251960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81C995"/>
                </a:solidFill>
                <a:latin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937760"/>
            <a:ext cx="2971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The Eigenvector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2971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Solving G·v = λ·v with λ =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02336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90288" y="4251960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C58AF9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937760"/>
            <a:ext cx="2971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Live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349240"/>
            <a:ext cx="2971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Python terminal + interactive website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402336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57616" y="4251960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8AB4F8"/>
                </a:solidFill>
                <a:latin typeface="Segoe UI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4937760"/>
            <a:ext cx="2971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Real World &amp; Viva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5349240"/>
            <a:ext cx="2971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Applications, syllabus map,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F28B82"/>
                </a:solidFill>
                <a:latin typeface="Segoe UI"/>
              </a:rPr>
              <a:t>1 · PROJECT BACKGROUND &amp;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Search before Google was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5449824" cy="36576"/>
          </a:xfrm>
          <a:prstGeom prst="roundRect">
            <a:avLst>
              <a:gd name="adj" fmla="val 0"/>
            </a:avLst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20" b="1">
                <a:solidFill>
                  <a:srgbClr val="F28B82"/>
                </a:solidFill>
                <a:latin typeface="Segoe UI Symbo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65960"/>
            <a:ext cx="411480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1F3F4"/>
                </a:solidFill>
                <a:latin typeface="Segoe UI"/>
              </a:rPr>
              <a:t>Keyword Density (before 1998)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937760" cy="32918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9AA0A6"/>
                </a:solidFill>
                <a:latin typeface="Segoe UI"/>
              </a:rPr>
              <a:t>Search engines like </a:t>
            </a:r>
            <a:r>
              <a:rPr sz="1500" b="1">
                <a:solidFill>
                  <a:srgbClr val="F28B82"/>
                </a:solidFill>
                <a:latin typeface="Segoe UI"/>
              </a:rPr>
              <a:t>Yahoo!</a:t>
            </a:r>
            <a:r>
              <a:rPr sz="1500" b="0">
                <a:solidFill>
                  <a:srgbClr val="9AA0A6"/>
                </a:solidFill>
                <a:latin typeface="Segoe UI"/>
              </a:rPr>
              <a:t> and </a:t>
            </a:r>
            <a:r>
              <a:rPr sz="1500" b="1">
                <a:solidFill>
                  <a:srgbClr val="F28B82"/>
                </a:solidFill>
                <a:latin typeface="Segoe UI"/>
              </a:rPr>
              <a:t>AltaVista</a:t>
            </a:r>
            <a:r>
              <a:rPr sz="1500" b="0">
                <a:solidFill>
                  <a:srgbClr val="9AA0A6"/>
                </a:solidFill>
                <a:latin typeface="Segoe UI"/>
              </a:rPr>
              <a:t> ranked websites by counting keywords.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9AA0A6"/>
                </a:solidFill>
                <a:latin typeface="Segoe UI"/>
              </a:rPr>
              <a:t>Search "Cars" → the page with the word "Cars" written the most times wins.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9AA0A6"/>
                </a:solidFill>
                <a:latin typeface="Segoe UI"/>
              </a:rPr>
              <a:t>This was </a:t>
            </a:r>
            <a:r>
              <a:rPr sz="1500" b="1">
                <a:solidFill>
                  <a:srgbClr val="F28B82"/>
                </a:solidFill>
                <a:latin typeface="Segoe UI"/>
              </a:rPr>
              <a:t>fundamentally flawed</a:t>
            </a:r>
            <a:r>
              <a:rPr sz="1500" b="0">
                <a:solidFill>
                  <a:srgbClr val="9AA0A6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45920"/>
            <a:ext cx="5333695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29399" y="1874519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B82"/>
                </a:solidFill>
                <a:latin typeface="Segoe UI"/>
              </a:rPr>
              <a:t>HOW SPAMMERS GAMED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399" y="2286000"/>
            <a:ext cx="4693615" cy="1874519"/>
          </a:xfrm>
          <a:prstGeom prst="roundRect">
            <a:avLst>
              <a:gd name="adj" fmla="val 4000"/>
            </a:avLst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812279" y="2441448"/>
            <a:ext cx="118872" cy="118872"/>
          </a:xfrm>
          <a:prstGeom prst="ellipse">
            <a:avLst/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013447" y="2441448"/>
            <a:ext cx="118872" cy="118872"/>
          </a:xfrm>
          <a:prstGeom prst="ellipse">
            <a:avLst/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214616" y="2441448"/>
            <a:ext cx="118872" cy="118872"/>
          </a:xfrm>
          <a:prstGeom prst="ellipse">
            <a:avLst/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79" y="2377440"/>
            <a:ext cx="3596335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onsolas"/>
              </a:rPr>
              <a:t>spam-page.html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7999" y="2743200"/>
            <a:ext cx="4327855" cy="1325879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F6368"/>
                </a:solidFill>
                <a:latin typeface="Consolas"/>
              </a:rPr>
              <a:t>&lt;div style="color:white; font-size:1px"&gt;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28B82"/>
                </a:solidFill>
                <a:latin typeface="Consolas"/>
              </a:rPr>
              <a:t>  Cars Cars Cars Cars Cars Cars Cars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28B82"/>
                </a:solidFill>
                <a:latin typeface="Consolas"/>
              </a:rPr>
              <a:t>  Cars Cars Cars Cars Cars Cars Cars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F6368"/>
                </a:solidFill>
                <a:latin typeface="Consolas"/>
              </a:rPr>
              <a:t>  ... repeated 10,000 times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F6368"/>
                </a:solidFill>
                <a:latin typeface="Consolas"/>
              </a:rPr>
              <a:t>&lt;/div&gt;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399" y="4343400"/>
            <a:ext cx="4693615" cy="1737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The word is </a:t>
            </a:r>
            <a:r>
              <a:rPr sz="1400" b="1">
                <a:solidFill>
                  <a:srgbClr val="FDD663"/>
                </a:solidFill>
                <a:latin typeface="Segoe UI"/>
              </a:rPr>
              <a:t>hidden invisibly</a:t>
            </a:r>
            <a:r>
              <a:rPr sz="1400" b="0">
                <a:solidFill>
                  <a:srgbClr val="F1F3F4"/>
                </a:solidFill>
                <a:latin typeface="Segoe UI"/>
              </a:rPr>
              <a:t> on the page.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Result: the spam page </a:t>
            </a:r>
            <a:r>
              <a:rPr sz="1400" b="1">
                <a:solidFill>
                  <a:srgbClr val="FDD663"/>
                </a:solidFill>
                <a:latin typeface="Segoe UI"/>
              </a:rPr>
              <a:t>instantly ranks #1</a:t>
            </a:r>
            <a:r>
              <a:rPr sz="1400" b="0">
                <a:solidFill>
                  <a:srgbClr val="F1F3F4"/>
                </a:solidFill>
                <a:latin typeface="Segoe U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Content quality didn't matter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AB4F8"/>
                </a:solidFill>
                <a:latin typeface="Segoe UI"/>
              </a:rPr>
              <a:t>1 · THE GOOGLE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A hyperlink is a vote of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Larry Page</a:t>
            </a:r>
            <a:r>
              <a:rPr sz="1700" b="0">
                <a:solidFill>
                  <a:srgbClr val="9AA0A6"/>
                </a:solidFill>
                <a:latin typeface="Segoe UI"/>
              </a:rPr>
              <a:t> and </a:t>
            </a:r>
            <a:r>
              <a:rPr sz="1700" b="1">
                <a:solidFill>
                  <a:srgbClr val="F1F3F4"/>
                </a:solidFill>
                <a:latin typeface="Segoe UI"/>
              </a:rPr>
              <a:t>Sergey Brin</a:t>
            </a:r>
            <a:r>
              <a:rPr sz="1700" b="0">
                <a:solidFill>
                  <a:srgbClr val="9AA0A6"/>
                </a:solidFill>
                <a:latin typeface="Segoe UI"/>
              </a:rPr>
              <a:t> (founders of Google, 1998) solved this using </a:t>
            </a:r>
            <a:r>
              <a:rPr sz="1700" b="1">
                <a:solidFill>
                  <a:srgbClr val="F1F3F4"/>
                </a:solidFill>
                <a:latin typeface="Segoe UI"/>
              </a:rPr>
              <a:t>Linear Algebra</a:t>
            </a:r>
            <a:r>
              <a:rPr sz="1700" b="0">
                <a:solidFill>
                  <a:srgbClr val="9AA0A6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15258" cy="2514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68680" y="256032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8AB4F8"/>
                </a:solidFill>
                <a:latin typeface="Segoe UI Symbo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Links are votes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2875178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If Apple.com links to CNN.com, Apple is saying "I trust CNN".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286000"/>
            <a:ext cx="3515258" cy="2514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58258" y="256032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FDD663"/>
                </a:solidFill>
                <a:latin typeface="Segoe UI Symbol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342900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Votes are weighted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886200"/>
            <a:ext cx="2875178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A link from a highly trusted site (like Apple) counts for more than a link from a random blog.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286000"/>
            <a:ext cx="3515258" cy="2514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447836" y="256032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81C995"/>
                </a:solidFill>
                <a:latin typeface="Segoe UI Symbol"/>
              </a:rPr>
              <a:t>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7836" y="342900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It's recursive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7836" y="3886200"/>
            <a:ext cx="2875178" cy="9144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Importance depends on the importance of whoever links to you, which depends on their linkers…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3000"/>
            </a:avLst>
          </a:prstGeom>
          <a:solidFill>
            <a:srgbClr val="1A1A1D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2959" y="525780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50" b="1">
                <a:solidFill>
                  <a:srgbClr val="8AB4F8"/>
                </a:solidFill>
                <a:latin typeface="Segoe UI Symbol"/>
              </a:rPr>
              <a:t>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38928"/>
            <a:ext cx="9631375" cy="91440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F1F3F4"/>
                </a:solidFill>
                <a:latin typeface="Segoe UI"/>
              </a:rPr>
              <a:t>This isn't a simple counting problem. It is a </a:t>
            </a:r>
            <a:r>
              <a:rPr sz="1700" b="1">
                <a:solidFill>
                  <a:srgbClr val="8AB4F8"/>
                </a:solidFill>
                <a:latin typeface="Segoe UI"/>
              </a:rPr>
              <a:t>recursive</a:t>
            </a:r>
            <a:r>
              <a:rPr sz="1700" b="0">
                <a:solidFill>
                  <a:srgbClr val="F1F3F4"/>
                </a:solidFill>
                <a:latin typeface="Segoe UI"/>
              </a:rPr>
              <a:t> problem, and it is perfectly solved using </a:t>
            </a:r>
            <a:r>
              <a:rPr sz="1700" b="1">
                <a:solidFill>
                  <a:srgbClr val="8AB4F8"/>
                </a:solidFill>
                <a:latin typeface="Segoe UI"/>
              </a:rPr>
              <a:t>Matrices and Eigenvectors</a:t>
            </a:r>
            <a:r>
              <a:rPr sz="1700" b="0">
                <a:solidFill>
                  <a:srgbClr val="F1F3F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FDD663"/>
                </a:solidFill>
                <a:latin typeface="Segoe UI"/>
              </a:rPr>
              <a:t>2 · THE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Our tiny internet: 4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Same graph used in the Python script and the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12064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2148840" y="2468880"/>
            <a:ext cx="1892807" cy="0"/>
          </a:xfrm>
          <a:prstGeom prst="line">
            <a:avLst/>
          </a:prstGeom>
          <a:ln w="28575">
            <a:solidFill>
              <a:srgbClr val="8AB4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56737" y="2850361"/>
            <a:ext cx="2168664" cy="2168664"/>
          </a:xfrm>
          <a:prstGeom prst="line">
            <a:avLst/>
          </a:prstGeom>
          <a:ln w="28575">
            <a:solidFill>
              <a:srgbClr val="8AB4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26279" y="2926080"/>
            <a:ext cx="0" cy="1892808"/>
          </a:xfrm>
          <a:prstGeom prst="line">
            <a:avLst/>
          </a:prstGeom>
          <a:ln w="28575">
            <a:solidFill>
              <a:srgbClr val="F28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092518" y="2753374"/>
            <a:ext cx="2168664" cy="2168664"/>
          </a:xfrm>
          <a:prstGeom prst="line">
            <a:avLst/>
          </a:prstGeom>
          <a:ln w="28575">
            <a:solidFill>
              <a:srgbClr val="FDD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176272" y="5221224"/>
            <a:ext cx="1892807" cy="0"/>
          </a:xfrm>
          <a:prstGeom prst="line">
            <a:avLst/>
          </a:prstGeom>
          <a:ln w="28575">
            <a:solidFill>
              <a:srgbClr val="FDD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48840" y="5385816"/>
            <a:ext cx="1892807" cy="0"/>
          </a:xfrm>
          <a:prstGeom prst="line">
            <a:avLst/>
          </a:prstGeom>
          <a:ln w="28575">
            <a:solidFill>
              <a:srgbClr val="81C9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234440" y="2011680"/>
            <a:ext cx="914400" cy="91440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Apple</a:t>
            </a:r>
          </a:p>
        </p:txBody>
      </p:sp>
      <p:sp>
        <p:nvSpPr>
          <p:cNvPr id="15" name="Oval 14"/>
          <p:cNvSpPr/>
          <p:nvPr/>
        </p:nvSpPr>
        <p:spPr>
          <a:xfrm>
            <a:off x="4069079" y="2011680"/>
            <a:ext cx="914400" cy="91440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Bing</a:t>
            </a:r>
          </a:p>
        </p:txBody>
      </p:sp>
      <p:sp>
        <p:nvSpPr>
          <p:cNvPr id="16" name="Oval 15"/>
          <p:cNvSpPr/>
          <p:nvPr/>
        </p:nvSpPr>
        <p:spPr>
          <a:xfrm>
            <a:off x="4069079" y="4846320"/>
            <a:ext cx="914400" cy="91440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CNN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4846320"/>
            <a:ext cx="914400" cy="91440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Disney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645920"/>
            <a:ext cx="5699455" cy="804672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172200" y="1773936"/>
            <a:ext cx="548640" cy="54864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755648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8AB4F8"/>
                </a:solidFill>
                <a:latin typeface="Segoe UI"/>
              </a:rPr>
              <a:t>Apple</a:t>
            </a:r>
            <a:r>
              <a:rPr sz="1500" b="0">
                <a:solidFill>
                  <a:srgbClr val="9AA0A6"/>
                </a:solidFill>
                <a:latin typeface="Segoe UI"/>
              </a:rPr>
              <a:t>  links to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066544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1F3F4"/>
                </a:solidFill>
                <a:latin typeface="Segoe UI"/>
              </a:rPr>
              <a:t>Bing  &amp;  CNN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8535" y="189280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8AB4F8"/>
                </a:solidFill>
                <a:latin typeface="Segoe UI"/>
              </a:rPr>
              <a:t>2 outgoing links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2587752"/>
            <a:ext cx="5699455" cy="804672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172200" y="2715768"/>
            <a:ext cx="548640" cy="54864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9748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28B82"/>
                </a:solidFill>
                <a:latin typeface="Segoe UI"/>
              </a:rPr>
              <a:t>Bing</a:t>
            </a:r>
            <a:r>
              <a:rPr sz="1500" b="0">
                <a:solidFill>
                  <a:srgbClr val="9AA0A6"/>
                </a:solidFill>
                <a:latin typeface="Segoe UI"/>
              </a:rPr>
              <a:t>  links to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008376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1F3F4"/>
                </a:solidFill>
                <a:latin typeface="Segoe UI"/>
              </a:rPr>
              <a:t>CNN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8535" y="28346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28B82"/>
                </a:solidFill>
                <a:latin typeface="Segoe UI"/>
              </a:rPr>
              <a:t>1 outgoing link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529584"/>
            <a:ext cx="5699455" cy="804672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172200" y="3657600"/>
            <a:ext cx="548640" cy="54864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639312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DD663"/>
                </a:solidFill>
                <a:latin typeface="Segoe UI"/>
              </a:rPr>
              <a:t>CNN</a:t>
            </a:r>
            <a:r>
              <a:rPr sz="1500" b="0">
                <a:solidFill>
                  <a:srgbClr val="9AA0A6"/>
                </a:solidFill>
                <a:latin typeface="Segoe UI"/>
              </a:rPr>
              <a:t>  links to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950208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1F3F4"/>
                </a:solidFill>
                <a:latin typeface="Segoe UI"/>
              </a:rPr>
              <a:t>Apple  &amp;  Disney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68535" y="377647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DD663"/>
                </a:solidFill>
                <a:latin typeface="Segoe UI"/>
              </a:rPr>
              <a:t>2 outgoing links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471416"/>
            <a:ext cx="5699455" cy="804672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172200" y="4599432"/>
            <a:ext cx="548640" cy="548640"/>
          </a:xfrm>
          <a:prstGeom prst="ellipse">
            <a:avLst/>
          </a:prstGeom>
          <a:solidFill>
            <a:srgbClr val="1A1A1D"/>
          </a:solidFill>
          <a:ln w="381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00" b="1">
                <a:solidFill>
                  <a:srgbClr val="F1F3F4"/>
                </a:solidFill>
                <a:latin typeface="Segoe UI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81144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81C995"/>
                </a:solidFill>
                <a:latin typeface="Segoe UI"/>
              </a:rPr>
              <a:t>Disney</a:t>
            </a:r>
            <a:r>
              <a:rPr sz="1500" b="0">
                <a:solidFill>
                  <a:srgbClr val="9AA0A6"/>
                </a:solidFill>
                <a:latin typeface="Segoe UI"/>
              </a:rPr>
              <a:t>  links to 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89204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1F3F4"/>
                </a:solidFill>
                <a:latin typeface="Segoe UI"/>
              </a:rPr>
              <a:t>CNN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68535" y="4718304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81C995"/>
                </a:solidFill>
                <a:latin typeface="Segoe UI"/>
              </a:rPr>
              <a:t>1 outgoing link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440680"/>
            <a:ext cx="5699455" cy="7315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AA0A6"/>
                </a:solidFill>
                <a:latin typeface="Segoe UI"/>
              </a:rPr>
              <a:t>Question: </a:t>
            </a:r>
            <a:r>
              <a:rPr sz="1500" b="1">
                <a:solidFill>
                  <a:srgbClr val="FDD663"/>
                </a:solidFill>
                <a:latin typeface="Segoe UI"/>
              </a:rPr>
              <a:t>which page is the most important?</a:t>
            </a:r>
            <a:r>
              <a:rPr sz="1500" b="0">
                <a:solidFill>
                  <a:srgbClr val="9AA0A6"/>
                </a:solidFill>
                <a:latin typeface="Segoe UI"/>
              </a:rPr>
              <a:t> We answer it with 4 matrix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AB4F8"/>
                </a:solidFill>
                <a:latin typeface="Segoe UI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The Adjacency Matrix 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The raw structure of the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85216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011680"/>
          <a:ext cx="5212076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55140"/>
                <a:gridCol w="964234"/>
                <a:gridCol w="964234"/>
                <a:gridCol w="964234"/>
                <a:gridCol w="964234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F6368"/>
                          </a:solidFill>
                          <a:latin typeface="Segoe UI"/>
                        </a:rPr>
                        <a:t>To \ From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AB4F8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28B82"/>
                          </a:solidFill>
                          <a:latin typeface="Segoe UI"/>
                        </a:rPr>
                        <a:t>Bing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Segoe UI"/>
                        </a:rPr>
                        <a:t>CNN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1C995"/>
                          </a:solidFill>
                          <a:latin typeface="Segoe UI"/>
                        </a:rPr>
                        <a:t>Disney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AB4F8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8AB4F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28B82"/>
                          </a:solidFill>
                          <a:latin typeface="Segoe UI"/>
                        </a:rPr>
                        <a:t>Bing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8AB4F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Segoe UI"/>
                        </a:rPr>
                        <a:t>CNN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8AB4F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8AB4F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8AB4F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1C995"/>
                          </a:solidFill>
                          <a:latin typeface="Segoe UI"/>
                        </a:rPr>
                        <a:t>Disney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8AB4F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486400"/>
            <a:ext cx="521208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Column sums (outgoing links):  </a:t>
            </a:r>
            <a:r>
              <a:rPr sz="1400" b="1">
                <a:solidFill>
                  <a:srgbClr val="F1F3F4"/>
                </a:solidFill>
                <a:latin typeface="Segoe UI"/>
              </a:rPr>
              <a:t>2   1   2   1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645920"/>
            <a:ext cx="4967935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693407" y="1645920"/>
            <a:ext cx="4931359" cy="36576"/>
          </a:xfrm>
          <a:prstGeom prst="roundRect">
            <a:avLst>
              <a:gd name="adj" fmla="val 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95159" y="1783080"/>
            <a:ext cx="4510735" cy="11887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A </a:t>
            </a:r>
            <a:r>
              <a:rPr sz="1400" b="1">
                <a:solidFill>
                  <a:srgbClr val="8AB4F8"/>
                </a:solidFill>
                <a:latin typeface="Segoe UI"/>
              </a:rPr>
              <a:t>square 4×4 matrix</a:t>
            </a:r>
            <a:r>
              <a:rPr sz="1400" b="0">
                <a:solidFill>
                  <a:srgbClr val="F1F3F4"/>
                </a:solidFill>
                <a:latin typeface="Segoe UI"/>
              </a:rPr>
              <a:t> of the web.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8AB4F8"/>
                </a:solidFill>
                <a:latin typeface="Segoe UI"/>
              </a:rPr>
              <a:t>Columns</a:t>
            </a:r>
            <a:r>
              <a:rPr sz="1400" b="0">
                <a:solidFill>
                  <a:srgbClr val="F1F3F4"/>
                </a:solidFill>
                <a:latin typeface="Segoe UI"/>
              </a:rPr>
              <a:t> = where the link comes </a:t>
            </a:r>
            <a:r>
              <a:rPr sz="1400" b="1">
                <a:solidFill>
                  <a:srgbClr val="8AB4F8"/>
                </a:solidFill>
                <a:latin typeface="Segoe UI"/>
              </a:rPr>
              <a:t>From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8AB4F8"/>
                </a:solidFill>
                <a:latin typeface="Segoe UI"/>
              </a:rPr>
              <a:t>Rows</a:t>
            </a:r>
            <a:r>
              <a:rPr sz="1400" b="0">
                <a:solidFill>
                  <a:srgbClr val="F1F3F4"/>
                </a:solidFill>
                <a:latin typeface="Segoe UI"/>
              </a:rPr>
              <a:t> = where the link goes </a:t>
            </a:r>
            <a:r>
              <a:rPr sz="1400" b="1">
                <a:solidFill>
                  <a:srgbClr val="8AB4F8"/>
                </a:solidFill>
                <a:latin typeface="Segoe UI"/>
              </a:rPr>
              <a:t>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200400"/>
            <a:ext cx="4967935" cy="13258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693407" y="3200400"/>
            <a:ext cx="4931359" cy="36576"/>
          </a:xfrm>
          <a:prstGeom prst="roundRect">
            <a:avLst>
              <a:gd name="adj" fmla="val 0"/>
            </a:avLst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95159" y="3337560"/>
            <a:ext cx="4510735" cy="10972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DD663"/>
                </a:solidFill>
                <a:latin typeface="Segoe UI"/>
              </a:rPr>
              <a:t>Rule:</a:t>
            </a:r>
            <a:r>
              <a:rPr sz="1400" b="0">
                <a:solidFill>
                  <a:srgbClr val="F1F3F4"/>
                </a:solidFill>
                <a:latin typeface="Segoe UI"/>
              </a:rPr>
              <a:t>  A[to, from] = 1 if a link exists, else 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Apple (column 1) → Bing (row 2)  ⇒  A[2,1] = </a:t>
            </a:r>
            <a:r>
              <a:rPr sz="1400" b="1">
                <a:solidFill>
                  <a:srgbClr val="FDD663"/>
                </a:solidFill>
                <a:latin typeface="Segoe UI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709160"/>
            <a:ext cx="4967935" cy="14630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693407" y="4709160"/>
            <a:ext cx="4931359" cy="36576"/>
          </a:xfrm>
          <a:prstGeom prst="roundRect">
            <a:avLst>
              <a:gd name="adj" fmla="val 0"/>
            </a:avLst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95159" y="4846320"/>
            <a:ext cx="4510735" cy="12344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Read the </a:t>
            </a:r>
            <a:r>
              <a:rPr sz="1400" b="1">
                <a:solidFill>
                  <a:srgbClr val="81C995"/>
                </a:solidFill>
                <a:latin typeface="Segoe UI"/>
              </a:rPr>
              <a:t>CNN row</a:t>
            </a:r>
            <a:r>
              <a:rPr sz="1400" b="0">
                <a:solidFill>
                  <a:srgbClr val="F1F3F4"/>
                </a:solidFill>
                <a:latin typeface="Segoe UI"/>
              </a:rPr>
              <a:t>: 1 · 1 · 0 · 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→ CNN receives links from </a:t>
            </a:r>
            <a:r>
              <a:rPr sz="1400" b="1">
                <a:solidFill>
                  <a:srgbClr val="81C995"/>
                </a:solidFill>
                <a:latin typeface="Segoe UI"/>
              </a:rPr>
              <a:t>Apple, Bing &amp; Disney</a:t>
            </a:r>
            <a:r>
              <a:rPr sz="1400" b="0">
                <a:solidFill>
                  <a:srgbClr val="F1F3F4"/>
                </a:solidFill>
                <a:latin typeface="Segoe UI"/>
              </a:rPr>
              <a:t>, a first hint that CNN matters most.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F28B82"/>
                </a:solidFill>
                <a:latin typeface="Segoe UI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The Stochastic Matrix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Turning links into probabilities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85216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011680"/>
          <a:ext cx="5212076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55140"/>
                <a:gridCol w="964234"/>
                <a:gridCol w="964234"/>
                <a:gridCol w="964234"/>
                <a:gridCol w="964234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F6368"/>
                          </a:solidFill>
                          <a:latin typeface="Segoe UI"/>
                        </a:rPr>
                        <a:t>To \ From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AB4F8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28B82"/>
                          </a:solidFill>
                          <a:latin typeface="Segoe UI"/>
                        </a:rPr>
                        <a:t>Bing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Segoe UI"/>
                        </a:rPr>
                        <a:t>CNN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1C995"/>
                          </a:solidFill>
                          <a:latin typeface="Segoe UI"/>
                        </a:rPr>
                        <a:t>Disney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AB4F8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28B82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28B82"/>
                          </a:solidFill>
                          <a:latin typeface="Segoe UI"/>
                        </a:rPr>
                        <a:t>Bing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28B82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Segoe UI"/>
                        </a:rPr>
                        <a:t>CNN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28B82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28B82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28B82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1C995"/>
                          </a:solidFill>
                          <a:latin typeface="Segoe UI"/>
                        </a:rPr>
                        <a:t>Disney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28B82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5F6368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486400"/>
            <a:ext cx="521208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Every column sums to exactly </a:t>
            </a:r>
            <a:r>
              <a:rPr sz="1400" b="1">
                <a:solidFill>
                  <a:srgbClr val="F1F3F4"/>
                </a:solidFill>
                <a:latin typeface="Segoe UI"/>
              </a:rPr>
              <a:t>1.0 (100%)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645920"/>
            <a:ext cx="4967935" cy="13258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693407" y="1645920"/>
            <a:ext cx="4931359" cy="36576"/>
          </a:xfrm>
          <a:prstGeom prst="roundRect">
            <a:avLst>
              <a:gd name="adj" fmla="val 0"/>
            </a:avLst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95159" y="1783080"/>
            <a:ext cx="4510735" cy="10972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A user on Apple.com has 2 links → </a:t>
            </a:r>
            <a:r>
              <a:rPr sz="1400" b="1">
                <a:solidFill>
                  <a:srgbClr val="F28B82"/>
                </a:solidFill>
                <a:latin typeface="Segoe UI"/>
              </a:rPr>
              <a:t>50%</a:t>
            </a:r>
            <a:r>
              <a:rPr sz="1400" b="0">
                <a:solidFill>
                  <a:srgbClr val="F1F3F4"/>
                </a:solidFill>
                <a:latin typeface="Segoe UI"/>
              </a:rPr>
              <a:t> chance to click Bing, </a:t>
            </a:r>
            <a:r>
              <a:rPr sz="1400" b="1">
                <a:solidFill>
                  <a:srgbClr val="F28B82"/>
                </a:solidFill>
                <a:latin typeface="Segoe UI"/>
              </a:rPr>
              <a:t>50%</a:t>
            </a:r>
            <a:r>
              <a:rPr sz="1400" b="0">
                <a:solidFill>
                  <a:srgbClr val="F1F3F4"/>
                </a:solidFill>
                <a:latin typeface="Segoe UI"/>
              </a:rPr>
              <a:t> to click CNN.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154680"/>
            <a:ext cx="4967935" cy="18288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0" y="3246120"/>
            <a:ext cx="451073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28B82"/>
                </a:solidFill>
                <a:latin typeface="Segoe UI"/>
              </a:rPr>
              <a:t>CALCULATION:  divide each column by its sum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11880"/>
            <a:ext cx="4510735" cy="1234440"/>
          </a:xfrm>
          <a:prstGeom prst="roundRect">
            <a:avLst>
              <a:gd name="adj" fmla="val 4000"/>
            </a:avLst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3749040"/>
            <a:ext cx="4144975" cy="1005839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1F3F4"/>
                </a:solidFill>
                <a:latin typeface="Consolas"/>
              </a:rPr>
              <a:t>Apple : [0,1,1,0] ÷ 2 = [0, .5, .5, 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1F3F4"/>
                </a:solidFill>
                <a:latin typeface="Consolas"/>
              </a:rPr>
              <a:t>Bing  : [0,0,1,0] ÷ 1 = [0, 0,  1, 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1F3F4"/>
                </a:solidFill>
                <a:latin typeface="Consolas"/>
              </a:rPr>
              <a:t>CNN   : [1,0,0,1] ÷ 2 = [.5, 0, 0,.5]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1F3F4"/>
                </a:solidFill>
                <a:latin typeface="Consolas"/>
              </a:rPr>
              <a:t>Disney: [0,0,1,0] ÷ 1 = [0, 0,  1, 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5166360"/>
            <a:ext cx="4967935" cy="1005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693407" y="5166360"/>
            <a:ext cx="4931359" cy="36576"/>
          </a:xfrm>
          <a:prstGeom prst="roundRect">
            <a:avLst>
              <a:gd name="adj" fmla="val 0"/>
            </a:avLst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95159" y="5230368"/>
            <a:ext cx="4510735" cy="8686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Segoe UI"/>
              </a:rPr>
              <a:t>This is a </a:t>
            </a:r>
            <a:r>
              <a:rPr sz="1400" b="1">
                <a:solidFill>
                  <a:srgbClr val="FDD663"/>
                </a:solidFill>
                <a:latin typeface="Segoe UI"/>
              </a:rPr>
              <a:t>Markov Chain</a:t>
            </a:r>
            <a:r>
              <a:rPr sz="1400" b="0">
                <a:solidFill>
                  <a:srgbClr val="F1F3F4"/>
                </a:solidFill>
                <a:latin typeface="Segoe UI"/>
              </a:rPr>
              <a:t> transition matrix (column-stochastic).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FDD663"/>
                </a:solidFill>
                <a:latin typeface="Segoe UI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The Google Matrix  G  &amp;  the Random Surfer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94415" cy="1371600"/>
          </a:xfrm>
          <a:prstGeom prst="roundRect">
            <a:avLst>
              <a:gd name="adj" fmla="val 3000"/>
            </a:avLst>
          </a:prstGeom>
          <a:solidFill>
            <a:srgbClr val="1A1A1D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1F3F4"/>
                </a:solidFill>
                <a:latin typeface="Cambria Math"/>
              </a:rPr>
              <a:t>G</a:t>
            </a:r>
            <a:r>
              <a:rPr sz="3600" b="1">
                <a:solidFill>
                  <a:srgbClr val="9AA0A6"/>
                </a:solidFill>
                <a:latin typeface="Cambria Math"/>
              </a:rPr>
              <a:t>  =  </a:t>
            </a:r>
            <a:r>
              <a:rPr sz="3600" b="1">
                <a:solidFill>
                  <a:srgbClr val="FDD663"/>
                </a:solidFill>
                <a:latin typeface="Cambria Math"/>
              </a:rPr>
              <a:t>0.85</a:t>
            </a:r>
            <a:r>
              <a:rPr sz="3600" b="1">
                <a:solidFill>
                  <a:srgbClr val="F1F3F4"/>
                </a:solidFill>
                <a:latin typeface="Cambria Math"/>
              </a:rPr>
              <a:t> · S</a:t>
            </a:r>
            <a:r>
              <a:rPr sz="3600" b="1">
                <a:solidFill>
                  <a:srgbClr val="9AA0A6"/>
                </a:solidFill>
                <a:latin typeface="Cambria Math"/>
              </a:rPr>
              <a:t>   +   </a:t>
            </a:r>
            <a:r>
              <a:rPr sz="3600" b="1">
                <a:solidFill>
                  <a:srgbClr val="8AB4F8"/>
                </a:solidFill>
                <a:latin typeface="Cambria Math"/>
              </a:rPr>
              <a:t>0.15</a:t>
            </a:r>
            <a:r>
              <a:rPr sz="3600" b="1">
                <a:solidFill>
                  <a:srgbClr val="F1F3F4"/>
                </a:solidFill>
                <a:latin typeface="Cambria Math"/>
              </a:rPr>
              <a:t> · (1/N) ·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1094415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N = number of pages (4)      |      E = 4×4 matrix of all 1s      |      d = damping factor = 0.85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410047" cy="29260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66928" y="3246120"/>
            <a:ext cx="5373471" cy="36576"/>
          </a:xfrm>
          <a:prstGeom prst="roundRect">
            <a:avLst>
              <a:gd name="adj" fmla="val 0"/>
            </a:avLst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68680" y="3474720"/>
            <a:ext cx="640080" cy="64008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20" b="1">
                <a:solidFill>
                  <a:srgbClr val="FDD663"/>
                </a:solidFill>
                <a:latin typeface="Segoe UI Symbol"/>
              </a:rPr>
              <a:t>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520440"/>
            <a:ext cx="4038447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1F3F4"/>
                </a:solidFill>
                <a:latin typeface="Segoe UI"/>
              </a:rPr>
              <a:t>85%  · Clicks a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4769967" cy="1737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Most of the time the user follows a hyperlink on the current page.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This behaviour is described by matrix </a:t>
            </a:r>
            <a:r>
              <a:rPr sz="1400" b="1">
                <a:solidFill>
                  <a:srgbClr val="FDD663"/>
                </a:solidFill>
                <a:latin typeface="Segoe UI"/>
              </a:rPr>
              <a:t>S</a:t>
            </a:r>
            <a:r>
              <a:rPr sz="1400" b="0">
                <a:solidFill>
                  <a:srgbClr val="9AA0A6"/>
                </a:solidFill>
                <a:latin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3246120"/>
            <a:ext cx="5410047" cy="29260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251295" y="3246120"/>
            <a:ext cx="5373471" cy="36576"/>
          </a:xfrm>
          <a:prstGeom prst="roundRect">
            <a:avLst>
              <a:gd name="adj" fmla="val 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553047" y="3474720"/>
            <a:ext cx="640080" cy="64008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20" b="1">
                <a:solidFill>
                  <a:srgbClr val="8AB4F8"/>
                </a:solidFill>
                <a:latin typeface="Segoe UI Symbol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6007" y="3520440"/>
            <a:ext cx="4038447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1F3F4"/>
                </a:solidFill>
                <a:latin typeface="Segoe UI"/>
              </a:rPr>
              <a:t>15%  · Teleports randomly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4297680"/>
            <a:ext cx="4769967" cy="1737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The user gets bored, opens a new tab and types a random URL: the </a:t>
            </a:r>
            <a:r>
              <a:rPr sz="1400" b="1">
                <a:solidFill>
                  <a:srgbClr val="8AB4F8"/>
                </a:solidFill>
                <a:latin typeface="Segoe UI"/>
              </a:rPr>
              <a:t>Random Surfer Model</a:t>
            </a:r>
            <a:r>
              <a:rPr sz="1400" b="0">
                <a:solidFill>
                  <a:srgbClr val="9AA0A6"/>
                </a:solidFill>
                <a:latin typeface="Segoe U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Every page gets 0.15 / 4 = </a:t>
            </a:r>
            <a:r>
              <a:rPr sz="1400" b="1">
                <a:solidFill>
                  <a:srgbClr val="8AB4F8"/>
                </a:solidFill>
                <a:latin typeface="Segoe UI"/>
              </a:rPr>
              <a:t>0.0375</a:t>
            </a:r>
            <a:r>
              <a:rPr sz="1400" b="0">
                <a:solidFill>
                  <a:srgbClr val="9AA0A6"/>
                </a:solidFill>
                <a:latin typeface="Segoe UI"/>
              </a:rPr>
              <a:t> for free.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FDD663"/>
                </a:solidFill>
                <a:latin typeface="Segoe UI"/>
              </a:rPr>
              <a:t>STEP 3 ·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Building G, entry by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85216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011680"/>
          <a:ext cx="5212076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55140"/>
                <a:gridCol w="964234"/>
                <a:gridCol w="964234"/>
                <a:gridCol w="964234"/>
                <a:gridCol w="964234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To \ From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AB4F8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28B82"/>
                          </a:solidFill>
                          <a:latin typeface="Segoe UI"/>
                        </a:rPr>
                        <a:t>Bing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DD663"/>
                          </a:solidFill>
                          <a:latin typeface="Segoe UI"/>
                        </a:rPr>
                        <a:t>CNN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1C995"/>
                          </a:solidFill>
                          <a:latin typeface="Segoe UI"/>
                        </a:rPr>
                        <a:t>Disney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AB4F8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Consolas"/>
                        </a:rPr>
                        <a:t>0.4625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28B82"/>
                          </a:solidFill>
                          <a:latin typeface="Segoe UI"/>
                        </a:rPr>
                        <a:t>Bing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Consolas"/>
                        </a:rPr>
                        <a:t>0.4625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DD663"/>
                          </a:solidFill>
                          <a:latin typeface="Segoe UI"/>
                        </a:rPr>
                        <a:t>CNN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Consolas"/>
                        </a:rPr>
                        <a:t>0.4625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Consolas"/>
                        </a:rPr>
                        <a:t>0.8875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Consolas"/>
                        </a:rPr>
                        <a:t>0.8875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81C995"/>
                          </a:solidFill>
                          <a:latin typeface="Segoe UI"/>
                        </a:rPr>
                        <a:t>Disney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D663"/>
                          </a:solidFill>
                          <a:latin typeface="Consolas"/>
                        </a:rPr>
                        <a:t>0.4625</a:t>
                      </a:r>
                    </a:p>
                  </a:txBody>
                  <a:tcPr anchor="ctr" marL="36576" marR="36576" marT="0" marB="0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F3F4"/>
                          </a:solidFill>
                          <a:latin typeface="Consolas"/>
                        </a:rPr>
                        <a:t>0.0375</a:t>
                      </a:r>
                    </a:p>
                  </a:txBody>
                  <a:tcPr anchor="ctr" marL="36576" marR="36576" marT="0" marB="0">
                    <a:solidFill>
                      <a:srgbClr val="1A1A1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486400"/>
            <a:ext cx="521208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No zeros left → every page reachable → unique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4967935" cy="29718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0" y="1755648"/>
            <a:ext cx="451073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DD663"/>
                </a:solidFill>
                <a:latin typeface="Segoe UI"/>
              </a:rPr>
              <a:t>ONLY 3 POSSIBLE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148840"/>
            <a:ext cx="4510735" cy="658368"/>
          </a:xfrm>
          <a:prstGeom prst="roundRect">
            <a:avLst>
              <a:gd name="adj" fmla="val 15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40880" y="2304288"/>
            <a:ext cx="10058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Consolas"/>
              </a:rPr>
              <a:t>S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304288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Consolas"/>
              </a:rPr>
              <a:t>0.85 × 0 + 0.0375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7175" y="2286000"/>
            <a:ext cx="10058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F6368"/>
                </a:solidFill>
                <a:latin typeface="Consolas"/>
              </a:rPr>
              <a:t>0.0375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935224"/>
            <a:ext cx="4510735" cy="658368"/>
          </a:xfrm>
          <a:prstGeom prst="roundRect">
            <a:avLst>
              <a:gd name="adj" fmla="val 15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40880" y="3090672"/>
            <a:ext cx="10058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Consolas"/>
              </a:rPr>
              <a:t>S = 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90672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Consolas"/>
              </a:rPr>
              <a:t>0.85 × 0.5 + 0.0375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3072384"/>
            <a:ext cx="10058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DD663"/>
                </a:solidFill>
                <a:latin typeface="Consolas"/>
              </a:rPr>
              <a:t>0.4625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721608"/>
            <a:ext cx="4510735" cy="658368"/>
          </a:xfrm>
          <a:prstGeom prst="roundRect">
            <a:avLst>
              <a:gd name="adj" fmla="val 15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40880" y="3877056"/>
            <a:ext cx="10058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Consolas"/>
              </a:rPr>
              <a:t>S =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77056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1F3F4"/>
                </a:solidFill>
                <a:latin typeface="Consolas"/>
              </a:rPr>
              <a:t>0.85 × 1 + 0.0375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175" y="3858768"/>
            <a:ext cx="10058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81C995"/>
                </a:solidFill>
                <a:latin typeface="Consolas"/>
              </a:rPr>
              <a:t>0.8875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800600"/>
            <a:ext cx="4967935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693407" y="4800600"/>
            <a:ext cx="4931359" cy="36576"/>
          </a:xfrm>
          <a:prstGeom prst="roundRect">
            <a:avLst>
              <a:gd name="adj" fmla="val 0"/>
            </a:avLst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95159" y="4892040"/>
            <a:ext cx="4510735" cy="11887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1F3F4"/>
                </a:solidFill>
                <a:latin typeface="Segoe UI"/>
              </a:rPr>
              <a:t>G is still </a:t>
            </a:r>
            <a:r>
              <a:rPr sz="1300" b="1">
                <a:solidFill>
                  <a:srgbClr val="81C995"/>
                </a:solidFill>
                <a:latin typeface="Segoe UI"/>
              </a:rPr>
              <a:t>column-stochastic</a:t>
            </a:r>
            <a:r>
              <a:rPr sz="1300" b="0">
                <a:solidFill>
                  <a:srgbClr val="F1F3F4"/>
                </a:solidFill>
                <a:latin typeface="Segoe UI"/>
              </a:rPr>
              <a:t>: each column sums to 1.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1F3F4"/>
                </a:solidFill>
                <a:latin typeface="Segoe UI"/>
              </a:rPr>
              <a:t>e.g. Apple column: 0.0375 + 0.4625 + 0.4625 + 0.0375 = </a:t>
            </a:r>
            <a:r>
              <a:rPr sz="1300" b="1">
                <a:solidFill>
                  <a:srgbClr val="81C995"/>
                </a:solidFill>
                <a:latin typeface="Segoe UI"/>
              </a:rPr>
              <a:t>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C995"/>
                </a:solidFill>
                <a:latin typeface="Segoe UI"/>
              </a:rPr>
              <a:t>STEP 4 · EIGEN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The Eigenvector is the PageRank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94415" cy="1417320"/>
          </a:xfrm>
          <a:prstGeom prst="roundRect">
            <a:avLst>
              <a:gd name="adj" fmla="val 3000"/>
            </a:avLst>
          </a:prstGeom>
          <a:solidFill>
            <a:srgbClr val="1A1A1D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1F3F4"/>
                </a:solidFill>
                <a:latin typeface="Cambria Math"/>
              </a:rPr>
              <a:t>G</a:t>
            </a:r>
            <a:r>
              <a:rPr sz="4000" b="1">
                <a:solidFill>
                  <a:srgbClr val="9AA0A6"/>
                </a:solidFill>
                <a:latin typeface="Cambria Math"/>
              </a:rPr>
              <a:t> · </a:t>
            </a:r>
            <a:r>
              <a:rPr sz="4000" b="1">
                <a:solidFill>
                  <a:srgbClr val="81C995"/>
                </a:solidFill>
                <a:latin typeface="Cambria Math"/>
              </a:rPr>
              <a:t>v</a:t>
            </a:r>
            <a:r>
              <a:rPr sz="4000" b="1">
                <a:solidFill>
                  <a:srgbClr val="9AA0A6"/>
                </a:solidFill>
                <a:latin typeface="Cambria Math"/>
              </a:rPr>
              <a:t>  =  </a:t>
            </a:r>
            <a:r>
              <a:rPr sz="4000" b="1">
                <a:solidFill>
                  <a:srgbClr val="FDD663"/>
                </a:solidFill>
                <a:latin typeface="Cambria Math"/>
              </a:rPr>
              <a:t>λ</a:t>
            </a:r>
            <a:r>
              <a:rPr sz="4000" b="1">
                <a:solidFill>
                  <a:srgbClr val="9AA0A6"/>
                </a:solidFill>
                <a:latin typeface="Cambria Math"/>
              </a:rPr>
              <a:t> · </a:t>
            </a:r>
            <a:r>
              <a:rPr sz="4000" b="1">
                <a:solidFill>
                  <a:srgbClr val="81C995"/>
                </a:solidFill>
                <a:latin typeface="Cambria Math"/>
              </a:rPr>
              <a:t>v</a:t>
            </a:r>
            <a:r>
              <a:rPr sz="4000" b="1">
                <a:solidFill>
                  <a:srgbClr val="9AA0A6"/>
                </a:solidFill>
                <a:latin typeface="Cambria Math"/>
              </a:rPr>
              <a:t>        with   </a:t>
            </a:r>
            <a:r>
              <a:rPr sz="4000" b="1">
                <a:solidFill>
                  <a:srgbClr val="FDD663"/>
                </a:solidFill>
                <a:latin typeface="Cambria Math"/>
              </a:rPr>
              <a:t>λ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1094415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We want the steady-state vector: the long-term probability of a user landing on each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3515258" cy="288036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68680" y="356616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DD663"/>
                </a:solidFill>
                <a:latin typeface="Segoe UI Symbol"/>
              </a:rPr>
              <a:t>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57600"/>
            <a:ext cx="2143658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Eigenvalue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2875178" cy="1645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A scalar: how much G stretches the vector. For PageRank, </a:t>
            </a:r>
            <a:r>
              <a:rPr sz="1400" b="1">
                <a:solidFill>
                  <a:srgbClr val="FDD663"/>
                </a:solidFill>
                <a:latin typeface="Segoe UI"/>
              </a:rPr>
              <a:t>λ = 1</a:t>
            </a:r>
            <a:r>
              <a:rPr sz="1400" b="0">
                <a:solidFill>
                  <a:srgbClr val="9AA0A6"/>
                </a:solidFill>
                <a:latin typeface="Segoe UI"/>
              </a:rPr>
              <a:t>: G leaves v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3291840"/>
            <a:ext cx="3515258" cy="288036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658258" y="356616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81C995"/>
                </a:solidFill>
                <a:latin typeface="Segoe UI Symbol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6938" y="3657600"/>
            <a:ext cx="2143658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Eigenvector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4434840"/>
            <a:ext cx="2875178" cy="1645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The direction G doesn't rotate. Its entries are the </a:t>
            </a:r>
            <a:r>
              <a:rPr sz="1400" b="1">
                <a:solidFill>
                  <a:srgbClr val="81C995"/>
                </a:solidFill>
                <a:latin typeface="Segoe UI"/>
              </a:rPr>
              <a:t>PageRank scores</a:t>
            </a:r>
            <a:r>
              <a:rPr sz="1400" b="0">
                <a:solidFill>
                  <a:srgbClr val="9AA0A6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3291840"/>
            <a:ext cx="3515258" cy="288036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447836" y="356616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8AB4F8"/>
                </a:solidFill>
                <a:latin typeface="Segoe UI Symbo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6516" y="3657600"/>
            <a:ext cx="2143658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Why exactly 1?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7836" y="4434840"/>
            <a:ext cx="2875178" cy="1645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AA0A6"/>
                </a:solidFill>
                <a:latin typeface="Segoe UI"/>
              </a:rPr>
              <a:t>G is </a:t>
            </a:r>
            <a:r>
              <a:rPr sz="1400" b="1">
                <a:solidFill>
                  <a:srgbClr val="8AB4F8"/>
                </a:solidFill>
                <a:latin typeface="Segoe UI"/>
              </a:rPr>
              <a:t>stochastic</a:t>
            </a:r>
            <a:r>
              <a:rPr sz="1400" b="0">
                <a:solidFill>
                  <a:srgbClr val="9AA0A6"/>
                </a:solidFill>
                <a:latin typeface="Segoe UI"/>
              </a:rPr>
              <a:t> (columns sum to 1), so its largest eigenvalue is </a:t>
            </a:r>
            <a:r>
              <a:rPr sz="1400" b="1">
                <a:solidFill>
                  <a:srgbClr val="8AB4F8"/>
                </a:solidFill>
                <a:latin typeface="Segoe UI"/>
              </a:rPr>
              <a:t>exactly 1</a:t>
            </a:r>
            <a:r>
              <a:rPr sz="1400" b="0">
                <a:solidFill>
                  <a:srgbClr val="9AA0A6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C995"/>
                </a:solidFill>
                <a:latin typeface="Segoe UI"/>
              </a:rPr>
              <a:t>STEP 4 ·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Solving with np.linalg.eig(G)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669280" cy="2743200"/>
          </a:xfrm>
          <a:prstGeom prst="roundRect">
            <a:avLst>
              <a:gd name="adj" fmla="val 4000"/>
            </a:avLst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1801368"/>
            <a:ext cx="118872" cy="118872"/>
          </a:xfrm>
          <a:prstGeom prst="ellipse">
            <a:avLst/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32688" y="1801368"/>
            <a:ext cx="118872" cy="118872"/>
          </a:xfrm>
          <a:prstGeom prst="ellipse">
            <a:avLst/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33856" y="1801368"/>
            <a:ext cx="118872" cy="118872"/>
          </a:xfrm>
          <a:prstGeom prst="ellipse">
            <a:avLst/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17319" y="173736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onsolas"/>
              </a:rPr>
              <a:t>pagerank_demo.py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5303520" cy="219456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58AF9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1F3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1F3F4"/>
                </a:solidFill>
                <a:latin typeface="Consolas"/>
              </a:rPr>
              <a:t>eigenvalues, eigenvectors = np.linalg.eig(G)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1F3F4"/>
                </a:solidFill>
                <a:latin typeface="Consolas"/>
              </a:rPr>
              <a:t>i  = np.argmin(abs(eigenvalues - 1))  # λ 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1F3F4"/>
                </a:solidFill>
                <a:latin typeface="Consolas"/>
              </a:rPr>
              <a:t>v  = np.real(eigenvectors[:, i])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81C995"/>
                </a:solidFill>
                <a:latin typeface="Consolas"/>
              </a:rPr>
              <a:t>PR = v / v.sum()     # normalise to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5669280" cy="16002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4681728"/>
            <a:ext cx="5120640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81C995"/>
                </a:solidFill>
                <a:latin typeface="Segoe UI"/>
              </a:rPr>
              <a:t>ALL 4 EIGENVALUES OF 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50749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D663"/>
                </a:solidFill>
                <a:latin typeface="Segoe UI"/>
              </a:rPr>
              <a:t>+1.000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39" y="50749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9AA0A6"/>
                </a:solidFill>
                <a:latin typeface="Segoe UI"/>
              </a:rPr>
              <a:t>0.000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0749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9AA0A6"/>
                </a:solidFill>
                <a:latin typeface="Segoe UI"/>
              </a:rPr>
              <a:t>-0.425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50749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9AA0A6"/>
                </a:solidFill>
                <a:latin typeface="Segoe UI"/>
              </a:rPr>
              <a:t>-0.425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623560"/>
            <a:ext cx="521208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λ₁ = 1 is the largest; |λ₂| = 0.425 &lt; 1 → power iteration converges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645920"/>
            <a:ext cx="5150815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66559" y="1755648"/>
            <a:ext cx="469361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81C995"/>
                </a:solidFill>
                <a:latin typeface="Segoe UI"/>
              </a:rPr>
              <a:t>NORMALISED EIGENVECTOR  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59" y="2194560"/>
            <a:ext cx="1040815" cy="1371600"/>
          </a:xfrm>
          <a:prstGeom prst="roundRect">
            <a:avLst>
              <a:gd name="adj" fmla="val 12000"/>
            </a:avLst>
          </a:prstGeom>
          <a:solidFill>
            <a:srgbClr val="1A1A1D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66559" y="2331720"/>
            <a:ext cx="1040815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AB4F8"/>
                </a:solidFill>
                <a:latin typeface="Segoe UI"/>
              </a:rPr>
              <a:t>Apple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788920"/>
            <a:ext cx="1040815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1F3F4"/>
                </a:solidFill>
                <a:latin typeface="Consolas"/>
              </a:rPr>
              <a:t>0.2199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7103" y="2194560"/>
            <a:ext cx="1040815" cy="1371600"/>
          </a:xfrm>
          <a:prstGeom prst="roundRect">
            <a:avLst>
              <a:gd name="adj" fmla="val 12000"/>
            </a:avLst>
          </a:prstGeom>
          <a:solidFill>
            <a:srgbClr val="1A1A1D"/>
          </a:solidFill>
          <a:ln w="127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17103" y="2331720"/>
            <a:ext cx="1040815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8B82"/>
                </a:solidFill>
                <a:latin typeface="Segoe UI"/>
              </a:rPr>
              <a:t>Bing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7103" y="2788920"/>
            <a:ext cx="1040815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1F3F4"/>
                </a:solidFill>
                <a:latin typeface="Consolas"/>
              </a:rPr>
              <a:t>0.1310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7647" y="2194560"/>
            <a:ext cx="1040815" cy="1371600"/>
          </a:xfrm>
          <a:prstGeom prst="roundRect">
            <a:avLst>
              <a:gd name="adj" fmla="val 12000"/>
            </a:avLst>
          </a:prstGeom>
          <a:solidFill>
            <a:srgbClr val="1A1A1D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7647" y="2331720"/>
            <a:ext cx="1040815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DD663"/>
                </a:solidFill>
                <a:latin typeface="Segoe UI"/>
              </a:rPr>
              <a:t>CNN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647" y="2788920"/>
            <a:ext cx="1040815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1F3F4"/>
                </a:solidFill>
                <a:latin typeface="Consolas"/>
              </a:rPr>
              <a:t>0.4292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8191" y="2194560"/>
            <a:ext cx="1040815" cy="1371600"/>
          </a:xfrm>
          <a:prstGeom prst="roundRect">
            <a:avLst>
              <a:gd name="adj" fmla="val 12000"/>
            </a:avLst>
          </a:prstGeom>
          <a:solidFill>
            <a:srgbClr val="1A1A1D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18191" y="2331720"/>
            <a:ext cx="1040815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1C995"/>
                </a:solidFill>
                <a:latin typeface="Segoe UI"/>
              </a:rPr>
              <a:t>Disney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8191" y="2788920"/>
            <a:ext cx="1040815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1F3F4"/>
                </a:solidFill>
                <a:latin typeface="Consolas"/>
              </a:rPr>
              <a:t>0.2199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977639"/>
            <a:ext cx="5150815" cy="219456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510527" y="3977639"/>
            <a:ext cx="5114239" cy="36576"/>
          </a:xfrm>
          <a:prstGeom prst="roundRect">
            <a:avLst>
              <a:gd name="adj" fmla="val 0"/>
            </a:avLst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12279" y="4069080"/>
            <a:ext cx="469361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DD663"/>
                </a:solidFill>
                <a:latin typeface="Segoe UI"/>
              </a:rPr>
              <a:t>VERIFY BY HAND:  (G·v) for the CNN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79" y="4434840"/>
            <a:ext cx="4693615" cy="1737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= 0.4625×0.2199 + 0.8875×0.1310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+ 0.0375×0.4292 + 0.8875×0.2199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= </a:t>
            </a:r>
            <a:r>
              <a:rPr sz="1300" b="1">
                <a:solidFill>
                  <a:srgbClr val="81C995"/>
                </a:solidFill>
                <a:latin typeface="Consolas"/>
              </a:rPr>
              <a:t>0.4292</a:t>
            </a:r>
            <a:r>
              <a:rPr sz="1300" b="0">
                <a:solidFill>
                  <a:srgbClr val="F1F3F4"/>
                </a:solidFill>
                <a:latin typeface="Consolas"/>
              </a:rPr>
              <a:t>  =  v(CNN) ✓   so  G·v = 1·v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C58AF9"/>
                </a:solidFill>
                <a:latin typeface="Segoe UI"/>
              </a:rPr>
              <a:t>STEP 4 · ALTERNATIVE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Power Iteration: how the website computes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Start equal, multiply by G again and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931920" cy="2103120"/>
          </a:xfrm>
          <a:prstGeom prst="roundRect">
            <a:avLst>
              <a:gd name="adj" fmla="val 4000"/>
            </a:avLst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31520" y="1801368"/>
            <a:ext cx="118872" cy="118872"/>
          </a:xfrm>
          <a:prstGeom prst="ellipse">
            <a:avLst/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32688" y="1801368"/>
            <a:ext cx="118872" cy="118872"/>
          </a:xfrm>
          <a:prstGeom prst="ellipse">
            <a:avLst/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33856" y="1801368"/>
            <a:ext cx="118872" cy="118872"/>
          </a:xfrm>
          <a:prstGeom prst="ellipse">
            <a:avLst/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17319" y="1737360"/>
            <a:ext cx="2834639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Consolas"/>
              </a:rPr>
              <a:t>index.html  (JavaScript)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3566160" cy="15544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F1F3F4"/>
                </a:solidFill>
                <a:latin typeface="Consolas"/>
              </a:rPr>
              <a:t>v₀ = [¼, ¼, ¼, ¼]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C58AF9"/>
                </a:solidFill>
                <a:latin typeface="Consolas"/>
              </a:rPr>
              <a:t>repeat: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FDD663"/>
                </a:solidFill>
                <a:latin typeface="Consolas"/>
              </a:rPr>
              <a:t>    vₖ₊₁ = G · vₖ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C58AF9"/>
                </a:solidFill>
                <a:latin typeface="Consolas"/>
              </a:rPr>
              <a:t>until vₖ stops changing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931920" cy="2240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66928" y="3931920"/>
            <a:ext cx="3895344" cy="36576"/>
          </a:xfrm>
          <a:prstGeom prst="roundRect">
            <a:avLst>
              <a:gd name="adj" fmla="val 0"/>
            </a:avLst>
          </a:prstGeom>
          <a:solidFill>
            <a:srgbClr val="C5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3474720" cy="20116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Segoe UI"/>
              </a:rPr>
              <a:t>Each step is a </a:t>
            </a:r>
            <a:r>
              <a:rPr sz="1300" b="1">
                <a:solidFill>
                  <a:srgbClr val="C58AF9"/>
                </a:solidFill>
                <a:latin typeface="Segoe UI"/>
              </a:rPr>
              <a:t>matrix × vector</a:t>
            </a:r>
            <a:r>
              <a:rPr sz="1300" b="0">
                <a:solidFill>
                  <a:srgbClr val="F1F3F4"/>
                </a:solidFill>
                <a:latin typeface="Segoe UI"/>
              </a:rPr>
              <a:t> product (row · vector </a:t>
            </a:r>
            <a:r>
              <a:rPr sz="1300" b="1">
                <a:solidFill>
                  <a:srgbClr val="C58AF9"/>
                </a:solidFill>
                <a:latin typeface="Segoe UI"/>
              </a:rPr>
              <a:t>dot products</a:t>
            </a:r>
            <a:r>
              <a:rPr sz="1300" b="0">
                <a:solidFill>
                  <a:srgbClr val="F1F3F4"/>
                </a:solidFill>
                <a:latin typeface="Segoe UI"/>
              </a:rPr>
              <a:t>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Segoe UI"/>
              </a:rPr>
              <a:t>Converges because all other |λ| &lt; 1, so their parts shrink to 0.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Segoe UI"/>
              </a:rPr>
              <a:t>Same answer as </a:t>
            </a:r>
            <a:r>
              <a:rPr sz="1300" b="1">
                <a:solidFill>
                  <a:srgbClr val="C58AF9"/>
                </a:solidFill>
                <a:latin typeface="Segoe UI"/>
              </a:rPr>
              <a:t>np.linalg.eig</a:t>
            </a:r>
            <a:r>
              <a:rPr sz="1300" b="0">
                <a:solidFill>
                  <a:srgbClr val="F1F3F4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1645920"/>
            <a:ext cx="6888175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83479" y="1783080"/>
            <a:ext cx="12861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AA0A6"/>
                </a:solidFill>
                <a:latin typeface="Segoe UI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9675" y="1783080"/>
            <a:ext cx="12861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AB4F8"/>
                </a:solidFill>
                <a:latin typeface="Segoe UI"/>
              </a:rPr>
              <a:t>Apple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5870" y="1783080"/>
            <a:ext cx="12861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8B82"/>
                </a:solidFill>
                <a:latin typeface="Segoe UI"/>
              </a:rPr>
              <a:t>Bing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065" y="1783080"/>
            <a:ext cx="12861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DD663"/>
                </a:solidFill>
                <a:latin typeface="Segoe UI"/>
              </a:rPr>
              <a:t>CNN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8260" y="1783080"/>
            <a:ext cx="12861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1C995"/>
                </a:solidFill>
                <a:latin typeface="Segoe UI"/>
              </a:rPr>
              <a:t>Disney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79" y="2176272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983479" y="224942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Consola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9675" y="224942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5870" y="224942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065" y="224942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28260" y="224942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79" y="2660904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83479" y="273405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Consola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9675" y="273405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0.1437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5870" y="273405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0.1437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065" y="273405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0.5687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8260" y="273405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0.1437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79" y="3145536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983479" y="321868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Consola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9675" y="321868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0.2792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5870" y="321868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0.0986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065" y="321868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0.3430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8260" y="321868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0.2792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79" y="3630168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983479" y="3703320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Consola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9675" y="3703320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0.1833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5870" y="3703320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0.1562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065" y="3703320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0.4773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28260" y="3703320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0.1833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79" y="4114800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983479" y="4187952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Consolas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9675" y="4187952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0.2404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5870" y="4187952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0.1154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2065" y="4187952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0.4039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28260" y="4187952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0.2404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79" y="4599432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983479" y="467258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Consola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9675" y="467258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0.2092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55870" y="467258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0.1397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2065" y="467258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0.4420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28260" y="4672584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0.2092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83479" y="5084064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983479" y="515721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Consolas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9675" y="515721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0.2202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5870" y="515721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0.1307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42065" y="515721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0.4289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28260" y="5157216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F1F3F4"/>
                </a:solidFill>
                <a:latin typeface="Consolas"/>
              </a:rPr>
              <a:t>0.2202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83479" y="5568696"/>
            <a:ext cx="6430975" cy="420624"/>
          </a:xfrm>
          <a:prstGeom prst="roundRect">
            <a:avLst>
              <a:gd name="adj" fmla="val 20000"/>
            </a:avLst>
          </a:prstGeom>
          <a:solidFill>
            <a:srgbClr val="142418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983479" y="564184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1C995"/>
                </a:solidFill>
                <a:latin typeface="Consolas"/>
              </a:rPr>
              <a:t>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9675" y="564184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1C995"/>
                </a:solidFill>
                <a:latin typeface="Consolas"/>
              </a:rPr>
              <a:t>0.2199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5870" y="564184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1C995"/>
                </a:solidFill>
                <a:latin typeface="Consolas"/>
              </a:rPr>
              <a:t>0.1310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42065" y="564184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1C995"/>
                </a:solidFill>
                <a:latin typeface="Consolas"/>
              </a:rPr>
              <a:t>0.4292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28260" y="5641848"/>
            <a:ext cx="128619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81C995"/>
                </a:solidFill>
                <a:latin typeface="Consolas"/>
              </a:rPr>
              <a:t>0.2199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C995"/>
                </a:solidFill>
                <a:latin typeface="Segoe U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Final PageRank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Eigenvector normalised so it adds up to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676656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DD663"/>
                </a:solidFill>
                <a:latin typeface="Segoe UI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03120"/>
            <a:ext cx="11887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CNN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075688"/>
            <a:ext cx="3840480" cy="53035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651760" y="2075688"/>
            <a:ext cx="3840480" cy="530352"/>
          </a:xfrm>
          <a:prstGeom prst="roundRect">
            <a:avLst>
              <a:gd name="adj" fmla="val 50000"/>
            </a:avLst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51760" y="2121408"/>
            <a:ext cx="37033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42.92%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0896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AB4F8"/>
                </a:solidFill>
                <a:latin typeface="Segoe UI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108960"/>
            <a:ext cx="11887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Apple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081528"/>
            <a:ext cx="3840480" cy="53035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651760" y="3081528"/>
            <a:ext cx="1967746" cy="530352"/>
          </a:xfrm>
          <a:prstGeom prst="roundRect">
            <a:avLst>
              <a:gd name="adj" fmla="val 5000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651760" y="3127248"/>
            <a:ext cx="1830586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21.99%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11480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81C995"/>
                </a:solidFill>
                <a:latin typeface="Segoe UI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114800"/>
            <a:ext cx="11887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Disney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087368"/>
            <a:ext cx="3840480" cy="53035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651760" y="4087368"/>
            <a:ext cx="1967746" cy="530352"/>
          </a:xfrm>
          <a:prstGeom prst="roundRect">
            <a:avLst>
              <a:gd name="adj" fmla="val 50000"/>
            </a:avLst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651760" y="4133087"/>
            <a:ext cx="1830586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21.99%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120640"/>
            <a:ext cx="54864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28B82"/>
                </a:solidFill>
                <a:latin typeface="Segoe UI"/>
              </a:rP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5120640"/>
            <a:ext cx="11887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Bing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093208"/>
            <a:ext cx="3840480" cy="53035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651760" y="5093208"/>
            <a:ext cx="1171835" cy="530352"/>
          </a:xfrm>
          <a:prstGeom prst="roundRect">
            <a:avLst>
              <a:gd name="adj" fmla="val 50000"/>
            </a:avLst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138928"/>
            <a:ext cx="1034675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Segoe UI"/>
              </a:rPr>
              <a:t>13.10%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645920"/>
            <a:ext cx="4053535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607808" y="1645920"/>
            <a:ext cx="4016959" cy="36576"/>
          </a:xfrm>
          <a:prstGeom prst="roundRect">
            <a:avLst>
              <a:gd name="adj" fmla="val 0"/>
            </a:avLst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909560" y="1874519"/>
            <a:ext cx="594360" cy="59436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90" b="1">
                <a:solidFill>
                  <a:srgbClr val="FDD663"/>
                </a:solidFill>
                <a:latin typeface="Segoe UI Symbol"/>
              </a:rPr>
              <a:t>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938528"/>
            <a:ext cx="2773375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Why CNN wins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606040"/>
            <a:ext cx="3550615" cy="11430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CNN receives links from </a:t>
            </a:r>
            <a:r>
              <a:rPr sz="1300" b="1">
                <a:solidFill>
                  <a:srgbClr val="FDD663"/>
                </a:solidFill>
                <a:latin typeface="Segoe UI"/>
              </a:rPr>
              <a:t>Apple, Bing and Disney</a:t>
            </a:r>
            <a:r>
              <a:rPr sz="1300" b="0">
                <a:solidFill>
                  <a:srgbClr val="9AA0A6"/>
                </a:solidFill>
                <a:latin typeface="Segoe UI"/>
              </a:rPr>
              <a:t>, the most central node in this tiny internet.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977639"/>
            <a:ext cx="4053535" cy="219456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607808" y="3977639"/>
            <a:ext cx="4016959" cy="36576"/>
          </a:xfrm>
          <a:prstGeom prst="roundRect">
            <a:avLst>
              <a:gd name="adj" fmla="val 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909560" y="4206240"/>
            <a:ext cx="594360" cy="59436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90" b="1">
                <a:solidFill>
                  <a:srgbClr val="8AB4F8"/>
                </a:solidFill>
                <a:latin typeface="Segoe UI Symbol"/>
              </a:rPr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270248"/>
            <a:ext cx="2773375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Apple = Disney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4937760"/>
            <a:ext cx="3550615" cy="11887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Both receive </a:t>
            </a:r>
            <a:r>
              <a:rPr sz="1300" b="1">
                <a:solidFill>
                  <a:srgbClr val="8AB4F8"/>
                </a:solidFill>
                <a:latin typeface="Segoe UI"/>
              </a:rPr>
              <a:t>half of CNN's vote</a:t>
            </a:r>
            <a:r>
              <a:rPr sz="1300" b="0">
                <a:solidFill>
                  <a:srgbClr val="9AA0A6"/>
                </a:solidFill>
                <a:latin typeface="Segoe UI"/>
              </a:rPr>
              <a:t> only. A link from a powerful page is worth a lot; Bing gets half of Apple's.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AB4F8"/>
                </a:solidFill>
                <a:latin typeface="Segoe U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The full pipeline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51560" y="2377440"/>
            <a:ext cx="822960" cy="82296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8AB4F8"/>
                </a:solidFill>
                <a:latin typeface="Segoe UI Symbol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828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Adjacency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Consolas"/>
              </a:rPr>
              <a:t>0 / 1 links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0592" y="3291840"/>
            <a:ext cx="341299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65043" y="210312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367963" y="2377440"/>
            <a:ext cx="822960" cy="82296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28B82"/>
                </a:solidFill>
                <a:latin typeface="Segoe UI Symbol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5043" y="3383280"/>
            <a:ext cx="1828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Stochastic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5043" y="3840480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Consolas"/>
              </a:rPr>
              <a:t>÷ column sum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66995" y="3291840"/>
            <a:ext cx="34130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81447" y="210312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684367" y="2377440"/>
            <a:ext cx="822960" cy="82296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DD663"/>
                </a:solidFill>
                <a:latin typeface="Segoe UI Symbol"/>
              </a:rP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3383280"/>
            <a:ext cx="1828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447" y="3840480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Consolas"/>
              </a:rPr>
              <a:t>0.85·S + 0.15/N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3399" y="3291840"/>
            <a:ext cx="34130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7851" y="210312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000771" y="2377440"/>
            <a:ext cx="822960" cy="82296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81C995"/>
                </a:solidFill>
                <a:latin typeface="Segoe UI Symbol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7851" y="3383280"/>
            <a:ext cx="1828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Eigenvector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7851" y="3840480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Consolas"/>
              </a:rPr>
              <a:t>G·v = 1·v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99803" y="3291840"/>
            <a:ext cx="34130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14255" y="2103120"/>
            <a:ext cx="1828800" cy="23774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0317175" y="2377440"/>
            <a:ext cx="822960" cy="82296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C58AF9"/>
                </a:solidFill>
                <a:latin typeface="Segoe UI Symbol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3383280"/>
            <a:ext cx="1828800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PageRank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3840480"/>
            <a:ext cx="18288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Consolas"/>
              </a:rPr>
              <a:t>v / sum(v)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3000"/>
            </a:avLst>
          </a:prstGeom>
          <a:solidFill>
            <a:srgbClr val="1A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4983480"/>
            <a:ext cx="10362895" cy="10972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F1F3F4"/>
                </a:solidFill>
                <a:latin typeface="Segoe UI"/>
              </a:rPr>
              <a:t>Graph  →  Matrix  →  Probabilities  →  Eigenvector  →  Ranking.   The </a:t>
            </a:r>
            <a:r>
              <a:rPr sz="1600" b="1">
                <a:solidFill>
                  <a:srgbClr val="FDD663"/>
                </a:solidFill>
                <a:latin typeface="Segoe UI"/>
              </a:rPr>
              <a:t>same pipeline</a:t>
            </a:r>
            <a:r>
              <a:rPr sz="1600" b="0">
                <a:solidFill>
                  <a:srgbClr val="F1F3F4"/>
                </a:solidFill>
                <a:latin typeface="Segoe UI"/>
              </a:rPr>
              <a:t> runs in </a:t>
            </a:r>
            <a:r>
              <a:rPr sz="1600" b="1">
                <a:solidFill>
                  <a:srgbClr val="FDD663"/>
                </a:solidFill>
                <a:latin typeface="Segoe UI"/>
              </a:rPr>
              <a:t>pagerank_demo.py</a:t>
            </a:r>
            <a:r>
              <a:rPr sz="1600" b="0">
                <a:solidFill>
                  <a:srgbClr val="F1F3F4"/>
                </a:solidFill>
                <a:latin typeface="Segoe UI"/>
              </a:rPr>
              <a:t> (numpy) and live in </a:t>
            </a:r>
            <a:r>
              <a:rPr sz="1600" b="1">
                <a:solidFill>
                  <a:srgbClr val="FDD663"/>
                </a:solidFill>
                <a:latin typeface="Segoe UI"/>
              </a:rPr>
              <a:t>index.html</a:t>
            </a:r>
            <a:r>
              <a:rPr sz="1600" b="0">
                <a:solidFill>
                  <a:srgbClr val="F1F3F4"/>
                </a:solidFill>
                <a:latin typeface="Segoe UI"/>
              </a:rPr>
              <a:t> (JavaScript).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C58AF9"/>
                </a:solidFill>
                <a:latin typeface="Segoe UI"/>
              </a:rPr>
              <a:t>SYLLABUS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Where our Unit 1 &amp; Unit 2 topics 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10047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5373471" cy="36576"/>
          </a:xfrm>
          <a:prstGeom prst="roundRect">
            <a:avLst>
              <a:gd name="adj" fmla="val 0"/>
            </a:avLst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3947007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Eigenvalues &amp; Eigenvectors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567" y="184708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1C995"/>
                </a:solidFill>
                <a:latin typeface="Segoe UI"/>
              </a:rPr>
              <a:t>U2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4861407" cy="594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PageRank = eigenvector of G for λ 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410047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251295" y="1645920"/>
            <a:ext cx="5373471" cy="36576"/>
          </a:xfrm>
          <a:prstGeom prst="roundRect">
            <a:avLst>
              <a:gd name="adj" fmla="val 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1847088"/>
            <a:ext cx="3947007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Dot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82935" y="184708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AB4F8"/>
                </a:solidFill>
                <a:latin typeface="Segoe UI"/>
              </a:rPr>
              <a:t>U2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331720"/>
            <a:ext cx="4861407" cy="594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Each entry of G·v is a row · vector dot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82112"/>
            <a:ext cx="5410047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66928" y="3182112"/>
            <a:ext cx="5373471" cy="36576"/>
          </a:xfrm>
          <a:prstGeom prst="roundRect">
            <a:avLst>
              <a:gd name="adj" fmla="val 0"/>
            </a:avLst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383280"/>
            <a:ext cx="3947007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Vector Norms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8567" y="338328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DD663"/>
                </a:solidFill>
                <a:latin typeface="Segoe UI"/>
              </a:rPr>
              <a:t>U2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2"/>
            <a:ext cx="4861407" cy="594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L1 normalisation: v / Σvᵢ so scores sum to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82112"/>
            <a:ext cx="5410047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251295" y="3182112"/>
            <a:ext cx="5373471" cy="36576"/>
          </a:xfrm>
          <a:prstGeom prst="roundRect">
            <a:avLst>
              <a:gd name="adj" fmla="val 0"/>
            </a:avLst>
          </a:prstGeom>
          <a:solidFill>
            <a:srgbClr val="F2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53047" y="3383280"/>
            <a:ext cx="3947007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Diagonalization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82935" y="338328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28B82"/>
                </a:solidFill>
                <a:latin typeface="Segoe UI"/>
              </a:rPr>
              <a:t>U2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3867912"/>
            <a:ext cx="4861407" cy="594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Gᵏ = P·Dᵏ·P⁻¹ explains why power iteration converges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18304"/>
            <a:ext cx="5410047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66928" y="4718304"/>
            <a:ext cx="5373471" cy="36576"/>
          </a:xfrm>
          <a:prstGeom prst="roundRect">
            <a:avLst>
              <a:gd name="adj" fmla="val 0"/>
            </a:avLst>
          </a:prstGeom>
          <a:solidFill>
            <a:srgbClr val="C5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4919472"/>
            <a:ext cx="3947007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Linear Systems / Gauss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8567" y="491947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C58AF9"/>
                </a:solidFill>
                <a:latin typeface="Segoe UI"/>
              </a:rPr>
              <a:t>U1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04104"/>
            <a:ext cx="4861407" cy="594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(I − 0.85·S)·v = 0.0375·1 can be solved by elimination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718304"/>
            <a:ext cx="5410047" cy="13716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251295" y="4718304"/>
            <a:ext cx="5373471" cy="36576"/>
          </a:xfrm>
          <a:prstGeom prst="roundRect">
            <a:avLst>
              <a:gd name="adj" fmla="val 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53047" y="4919472"/>
            <a:ext cx="3947007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1F3F4"/>
                </a:solidFill>
                <a:latin typeface="Segoe UI"/>
              </a:rPr>
              <a:t>Matrix Rank &amp; Null Space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82935" y="491947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AB4F8"/>
                </a:solidFill>
                <a:latin typeface="Segoe UI"/>
              </a:rPr>
              <a:t>U1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047" y="5404104"/>
            <a:ext cx="4861407" cy="594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rank(G − I) = 3 → 1-D null space → unique ranking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AB4F8"/>
                </a:solidFill>
                <a:latin typeface="Segoe UI"/>
              </a:rPr>
              <a:t>3 ·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Three parts of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15258" cy="73152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8AB4F8"/>
                </a:solidFill>
                <a:latin typeface="Segoe UI Symbol"/>
              </a:rPr>
              <a:t>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76272"/>
            <a:ext cx="205221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Python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26080"/>
            <a:ext cx="2875178" cy="34747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AB4F8"/>
                </a:solidFill>
                <a:latin typeface="Segoe UI"/>
              </a:rPr>
              <a:t>pagerank_demo.py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2920898" cy="2560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Uses </a:t>
            </a:r>
            <a:r>
              <a:rPr sz="1300" b="1">
                <a:solidFill>
                  <a:srgbClr val="F1F3F4"/>
                </a:solidFill>
                <a:latin typeface="Segoe UI"/>
              </a:rPr>
              <a:t>numpy</a:t>
            </a:r>
            <a:r>
              <a:rPr sz="1300" b="0">
                <a:solidFill>
                  <a:srgbClr val="9AA0A6"/>
                </a:solidFill>
                <a:latin typeface="Segoe UI"/>
              </a:rPr>
              <a:t> to construct A, S and 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F1F3F4"/>
                </a:solidFill>
                <a:latin typeface="Segoe UI"/>
              </a:rPr>
              <a:t>np.linalg.eig</a:t>
            </a:r>
            <a:r>
              <a:rPr sz="1300" b="0">
                <a:solidFill>
                  <a:srgbClr val="9AA0A6"/>
                </a:solidFill>
                <a:latin typeface="Segoe UI"/>
              </a:rPr>
              <a:t> computes eigenvalues &amp; eigenvectors, as taught in Unit 2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Option 2: enter </a:t>
            </a:r>
            <a:r>
              <a:rPr sz="1300" b="1">
                <a:solidFill>
                  <a:srgbClr val="F1F3F4"/>
                </a:solidFill>
                <a:latin typeface="Segoe UI"/>
              </a:rPr>
              <a:t>your own</a:t>
            </a:r>
            <a:r>
              <a:rPr sz="1300" b="0">
                <a:solidFill>
                  <a:srgbClr val="9AA0A6"/>
                </a:solidFill>
                <a:latin typeface="Segoe UI"/>
              </a:rPr>
              <a:t> custom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38218" y="1645920"/>
            <a:ext cx="3515258" cy="73152"/>
          </a:xfrm>
          <a:prstGeom prst="rect">
            <a:avLst/>
          </a:prstGeom>
          <a:solidFill>
            <a:srgbClr val="FDD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658258" y="1965960"/>
            <a:ext cx="777240" cy="77724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DD663"/>
                </a:solidFill>
                <a:latin typeface="Segoe UI Symbol"/>
              </a:rPr>
              <a:t>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8378" y="2176272"/>
            <a:ext cx="205221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Web Simulator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58258" y="2926080"/>
            <a:ext cx="2875178" cy="34747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DD663"/>
                </a:solidFill>
                <a:latin typeface="Segoe UI"/>
              </a:rPr>
              <a:t>index.html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8258" y="3520440"/>
            <a:ext cx="2920898" cy="2560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Vanilla </a:t>
            </a:r>
            <a:r>
              <a:rPr sz="1300" b="1">
                <a:solidFill>
                  <a:srgbClr val="F1F3F4"/>
                </a:solidFill>
                <a:latin typeface="Segoe UI"/>
              </a:rPr>
              <a:t>HTML5 Canvas</a:t>
            </a:r>
            <a:r>
              <a:rPr sz="1300" b="0">
                <a:solidFill>
                  <a:srgbClr val="9AA0A6"/>
                </a:solidFill>
                <a:latin typeface="Segoe UI"/>
              </a:rPr>
              <a:t>, CSS (AMOLED dark), JavaScript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Same math in real time via </a:t>
            </a:r>
            <a:r>
              <a:rPr sz="1300" b="1">
                <a:solidFill>
                  <a:srgbClr val="F1F3F4"/>
                </a:solidFill>
                <a:latin typeface="Segoe UI"/>
              </a:rPr>
              <a:t>Power Iteration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Add / delete nodes, drag, draw links: math updates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1645920"/>
            <a:ext cx="3515258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27796" y="1645920"/>
            <a:ext cx="3515258" cy="73152"/>
          </a:xfrm>
          <a:prstGeom prst="rect">
            <a:avLst/>
          </a:prstGeom>
          <a:solidFill>
            <a:srgbClr val="81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447836" y="1965960"/>
            <a:ext cx="777240" cy="77724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81C995"/>
                </a:solidFill>
                <a:latin typeface="Segoe UI Symbol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7956" y="2176272"/>
            <a:ext cx="205221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1F3F4"/>
                </a:solidFill>
                <a:latin typeface="Segoe UI"/>
              </a:rPr>
              <a:t>Presentation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7836" y="2926080"/>
            <a:ext cx="2875178" cy="347472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1C995"/>
                </a:solidFill>
                <a:latin typeface="Segoe UI"/>
              </a:rPr>
              <a:t>create_comprehensive_ppt.py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7836" y="3520440"/>
            <a:ext cx="2920898" cy="2560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Uses </a:t>
            </a:r>
            <a:r>
              <a:rPr sz="1300" b="1">
                <a:solidFill>
                  <a:srgbClr val="F1F3F4"/>
                </a:solidFill>
                <a:latin typeface="Segoe UI"/>
              </a:rPr>
              <a:t>python-pptx</a:t>
            </a:r>
            <a:r>
              <a:rPr sz="1300" b="0">
                <a:solidFill>
                  <a:srgbClr val="9AA0A6"/>
                </a:solidFill>
                <a:latin typeface="Segoe UI"/>
              </a:rPr>
              <a:t> to generate this deck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Numbers computed </a:t>
            </a:r>
            <a:r>
              <a:rPr sz="1300" b="1">
                <a:solidFill>
                  <a:srgbClr val="F1F3F4"/>
                </a:solidFill>
                <a:latin typeface="Segoe UI"/>
              </a:rPr>
              <a:t>live with numpy</a:t>
            </a:r>
            <a:r>
              <a:rPr sz="1300" b="0">
                <a:solidFill>
                  <a:srgbClr val="9AA0A6"/>
                </a:solidFill>
                <a:latin typeface="Segoe UI"/>
              </a:rPr>
              <a:t>, so slides = terminal = website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Google-themed dark mode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C995"/>
                </a:solidFill>
                <a:latin typeface="Segoe UI"/>
              </a:rPr>
              <a:t>LIVE DEMO ·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python pagerank_demo.py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Actual program output (option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859536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rminal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375904" cy="44343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418319" y="1645920"/>
            <a:ext cx="2224735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92640" y="1783080"/>
            <a:ext cx="176753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81C995"/>
                </a:solidFill>
                <a:latin typeface="Segoe UI"/>
              </a:rPr>
              <a:t>TERMINAL RUN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0" y="224028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81C995"/>
                </a:solidFill>
                <a:latin typeface="Segoe UI Symbo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999" y="2221992"/>
            <a:ext cx="12188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Exact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999" y="2542032"/>
            <a:ext cx="121889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100% matches website &amp; slides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0" y="320040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8AB4F8"/>
                </a:solidFill>
                <a:latin typeface="Segoe UI Symbo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6999" y="3182112"/>
            <a:ext cx="12188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NumPy eig()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6999" y="3502152"/>
            <a:ext cx="121889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Uses np.linalg.eig to get λ=1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0" y="416052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D663"/>
                </a:solidFill>
                <a:latin typeface="Segoe UI Symbo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6999" y="4142232"/>
            <a:ext cx="12188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Custom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6999" y="4462272"/>
            <a:ext cx="121889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Option 2 supports custom matrix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0" y="512064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28B82"/>
                </a:solidFill>
                <a:latin typeface="Segoe UI Symbo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6999" y="5102352"/>
            <a:ext cx="121889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Step-by-Step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6999" y="5422392"/>
            <a:ext cx="121889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Clean output of steps 1 to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FDD663"/>
                </a:solidFill>
                <a:latin typeface="Segoe UI"/>
              </a:rPr>
              <a:t>LIVE DEMO ·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Interactive PageRank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9AA0A6"/>
                </a:solidFill>
                <a:latin typeface="Segoe UI"/>
              </a:rPr>
              <a:t>http://localhost:8080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7863840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websit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7644383" cy="42999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645920"/>
            <a:ext cx="2956255" cy="452628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49905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DD663"/>
                </a:solidFill>
                <a:latin typeface="Segoe UI"/>
              </a:rPr>
              <a:t>HOW TO SHOW IT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0" y="224028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8AB4F8"/>
                </a:solidFill>
                <a:latin typeface="Segoe UI Symbo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221992"/>
            <a:ext cx="185897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Start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42032"/>
            <a:ext cx="185897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AA0A6"/>
                </a:solidFill>
                <a:latin typeface="Consolas"/>
              </a:rPr>
              <a:t>python -m http.server 8080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0" y="320040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28B82"/>
                </a:solidFill>
                <a:latin typeface="Segoe UI Symbo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182112"/>
            <a:ext cx="185897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Drag 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502152"/>
            <a:ext cx="185897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Rearrange the web graph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0" y="416052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D663"/>
                </a:solidFill>
                <a:latin typeface="Segoe UI Symbo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142232"/>
            <a:ext cx="185897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Draw a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462272"/>
            <a:ext cx="185897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Watch A, S, G &amp; ranks update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5120640"/>
            <a:ext cx="502920" cy="50292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81C995"/>
                </a:solidFill>
                <a:latin typeface="Segoe UI Symbo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102352"/>
            <a:ext cx="1858975" cy="320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1F3F4"/>
                </a:solidFill>
                <a:latin typeface="Segoe UI"/>
              </a:rPr>
              <a:t>Add / 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422392"/>
            <a:ext cx="1858975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9AA0A6"/>
                </a:solidFill>
                <a:latin typeface="Segoe UI"/>
              </a:rPr>
              <a:t>Grow or shrink the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F28B82"/>
                </a:solidFill>
                <a:latin typeface="Segoe UI"/>
              </a:rPr>
              <a:t>REAL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F1F3F4"/>
                </a:solidFill>
                <a:latin typeface="Segoe UI Semibold"/>
              </a:rPr>
              <a:t>Where this exact math is used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Google PageRank   |   A Linear Algebra Application   | 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F6368"/>
                </a:solidFill>
                <a:latin typeface="Segoe U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15258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8AB4F8"/>
                </a:solidFill>
                <a:latin typeface="Segoe UI Symbol"/>
              </a:rP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Google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287517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Original 1998 ranking of billions of web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45920"/>
            <a:ext cx="3515258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58258" y="192024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2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B82"/>
                </a:solidFill>
                <a:latin typeface="Segoe UI Symbol"/>
              </a:rPr>
              <a:t>@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258" y="274320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Social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3127248"/>
            <a:ext cx="287517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Twitter/X "Who to follow": influence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45920"/>
            <a:ext cx="3515258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447836" y="1920240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DD663"/>
                </a:solidFill>
                <a:latin typeface="Segoe UI Symbol"/>
              </a:rPr>
              <a:t>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7836" y="274320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Research Papers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7836" y="3127248"/>
            <a:ext cx="287517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Ranking papers &amp; journals by citations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3515258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68680" y="4251959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81C995"/>
                </a:solidFill>
                <a:latin typeface="Segoe UI Symbol"/>
              </a:rPr>
              <a:t>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Biology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58968"/>
            <a:ext cx="287517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Finding key proteins &amp; genes in networks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3977639"/>
            <a:ext cx="3515258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658258" y="4251959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C5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C58AF9"/>
                </a:solidFill>
                <a:latin typeface="Segoe UI Symbol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8258" y="507492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Fraud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8258" y="5458968"/>
            <a:ext cx="287517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Spotting suspicious accounts in transaction graphs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3977639"/>
            <a:ext cx="3515258" cy="214884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447836" y="4251959"/>
            <a:ext cx="685800" cy="685800"/>
          </a:xfrm>
          <a:prstGeom prst="ellipse">
            <a:avLst/>
          </a:prstGeom>
          <a:solidFill>
            <a:srgbClr val="1A1A1D"/>
          </a:solidFill>
          <a:ln w="254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8AB4F8"/>
                </a:solidFill>
                <a:latin typeface="Segoe UI Symbol"/>
              </a:rPr>
              <a:t>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7836" y="5074920"/>
            <a:ext cx="2875178" cy="411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1F3F4"/>
                </a:solidFill>
                <a:latin typeface="Segoe UI"/>
              </a:rPr>
              <a:t>Sports &amp; Roads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7836" y="5458968"/>
            <a:ext cx="287517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A0A6"/>
                </a:solidFill>
                <a:latin typeface="Segoe UI"/>
              </a:rPr>
              <a:t>Ranking teams; finding busy intersections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18407" y="822960"/>
            <a:ext cx="4754880" cy="4754880"/>
          </a:xfrm>
          <a:prstGeom prst="ellipse">
            <a:avLst/>
          </a:prstGeom>
          <a:solidFill>
            <a:srgbClr val="0A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4285F4"/>
                </a:solidFill>
                <a:latin typeface="Segoe UI Semibold"/>
              </a:rPr>
              <a:t>T</a:t>
            </a:r>
            <a:r>
              <a:rPr sz="7200" b="1">
                <a:solidFill>
                  <a:srgbClr val="EA4335"/>
                </a:solidFill>
                <a:latin typeface="Segoe UI Semibold"/>
              </a:rPr>
              <a:t>h</a:t>
            </a:r>
            <a:r>
              <a:rPr sz="7200" b="1">
                <a:solidFill>
                  <a:srgbClr val="FBBC05"/>
                </a:solidFill>
                <a:latin typeface="Segoe UI Semibold"/>
              </a:rPr>
              <a:t>a</a:t>
            </a:r>
            <a:r>
              <a:rPr sz="7200" b="1">
                <a:solidFill>
                  <a:srgbClr val="4285F4"/>
                </a:solidFill>
                <a:latin typeface="Segoe UI Semibold"/>
              </a:rPr>
              <a:t>n</a:t>
            </a:r>
            <a:r>
              <a:rPr sz="7200" b="1">
                <a:solidFill>
                  <a:srgbClr val="34A853"/>
                </a:solidFill>
                <a:latin typeface="Segoe UI Semibold"/>
              </a:rPr>
              <a:t>k</a:t>
            </a:r>
            <a:r>
              <a:rPr sz="7200" b="1">
                <a:solidFill>
                  <a:srgbClr val="F1F3F4"/>
                </a:solidFill>
                <a:latin typeface="Segoe UI Semibold"/>
              </a:rPr>
              <a:t> </a:t>
            </a:r>
            <a:r>
              <a:rPr sz="7200" b="1">
                <a:solidFill>
                  <a:srgbClr val="EA4335"/>
                </a:solidFill>
                <a:latin typeface="Segoe UI Semibold"/>
              </a:rPr>
              <a:t>Y</a:t>
            </a:r>
            <a:r>
              <a:rPr sz="7200" b="1">
                <a:solidFill>
                  <a:srgbClr val="FBBC05"/>
                </a:solidFill>
                <a:latin typeface="Segoe UI Semibold"/>
              </a:rPr>
              <a:t>o</a:t>
            </a:r>
            <a:r>
              <a:rPr sz="7200" b="1">
                <a:solidFill>
                  <a:srgbClr val="4285F4"/>
                </a:solidFill>
                <a:latin typeface="Segoe UI Semibold"/>
              </a:rPr>
              <a:t>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F1F3F4"/>
                </a:solidFill>
                <a:latin typeface="Segoe UI"/>
              </a:rPr>
              <a:t>One eigenvector organised the entire internet.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98567" y="4160520"/>
            <a:ext cx="548640" cy="6400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547207" y="4160520"/>
            <a:ext cx="548640" cy="6400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095847" y="4160520"/>
            <a:ext cx="548640" cy="6400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644487" y="4160520"/>
            <a:ext cx="548640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9AA0A6"/>
                </a:solidFill>
                <a:latin typeface="Segoe UI"/>
              </a:rPr>
              <a:t>Questions?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2527" y="530352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AB4F8"/>
                </a:solidFill>
                <a:latin typeface="Segoe UI"/>
              </a:rPr>
              <a:t>pagerank_demo.py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7127" y="530352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FDD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DD663"/>
                </a:solidFill>
                <a:latin typeface="Segoe UI"/>
              </a:rPr>
              <a:t>index.html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1727" y="530352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A1A1D"/>
          </a:solidFill>
          <a:ln w="12700">
            <a:solidFill>
              <a:srgbClr val="81C9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81C995"/>
                </a:solidFill>
                <a:latin typeface="Segoe UI"/>
              </a:rPr>
              <a:t>Explanation_and_Notes.md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